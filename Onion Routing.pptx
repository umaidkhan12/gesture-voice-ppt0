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2" r:id="rId6"/>
    <p:sldId id="261" r:id="rId7"/>
    <p:sldId id="260"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46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4A793E67-5B3C-4318-8977-47599CA3BE22}" type="datetimeFigureOut">
              <a:rPr lang="en-US" smtClean="0"/>
              <a:t>10/20/2023</a:t>
            </a:fld>
            <a:endParaRPr lang="en-US"/>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4DE68250-93E7-4555-A494-AB27E38F4612}" type="slidenum">
              <a:rPr lang="en-US" smtClean="0"/>
              <a:t>‹#›</a:t>
            </a:fld>
            <a:endParaRPr lang="en-US"/>
          </a:p>
        </p:txBody>
      </p:sp>
    </p:spTree>
    <p:extLst>
      <p:ext uri="{BB962C8B-B14F-4D97-AF65-F5344CB8AC3E}">
        <p14:creationId xmlns:p14="http://schemas.microsoft.com/office/powerpoint/2010/main" val="369545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A793E67-5B3C-4318-8977-47599CA3BE2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4071671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793E67-5B3C-4318-8977-47599CA3BE2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1566563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A793E67-5B3C-4318-8977-47599CA3BE22}"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840612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A793E67-5B3C-4318-8977-47599CA3BE22}" type="datetimeFigureOut">
              <a:rPr lang="en-US" smtClean="0"/>
              <a:t>10/20/2023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889139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A793E67-5B3C-4318-8977-47599CA3BE22}" type="datetimeFigureOut">
              <a:rPr lang="en-US" smtClean="0"/>
              <a:t>10/20/2023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743590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93E67-5B3C-4318-8977-47599CA3BE22}" type="datetimeFigureOut">
              <a:rPr lang="en-US" smtClean="0"/>
              <a:t>10/20/2023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2175345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A793E67-5B3C-4318-8977-47599CA3BE22}"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412344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A793E67-5B3C-4318-8977-47599CA3BE22}"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150129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A793E67-5B3C-4318-8977-47599CA3BE22}"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3096628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A793E67-5B3C-4318-8977-47599CA3BE2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1270941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A793E67-5B3C-4318-8977-47599CA3BE2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16544425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A793E67-5B3C-4318-8977-47599CA3BE2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19571656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A793E67-5B3C-4318-8977-47599CA3BE22}" type="datetimeFigureOut">
              <a:rPr lang="en-US" smtClean="0"/>
              <a:t>10/20/2023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4160729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A793E67-5B3C-4318-8977-47599CA3BE22}" type="datetimeFigureOut">
              <a:rPr lang="en-US" smtClean="0"/>
              <a:t>10/20/2023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6909950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A793E67-5B3C-4318-8977-47599CA3BE2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17297077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A793E67-5B3C-4318-8977-47599CA3BE22}"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DE68250-93E7-4555-A494-AB27E38F4612}" type="slidenum">
              <a:rPr lang="en-US" smtClean="0"/>
              <a:t>‹#›</a:t>
            </a:fld>
            <a:endParaRPr lang="en-US"/>
          </a:p>
        </p:txBody>
      </p:sp>
    </p:spTree>
    <p:extLst>
      <p:ext uri="{BB962C8B-B14F-4D97-AF65-F5344CB8AC3E}">
        <p14:creationId xmlns:p14="http://schemas.microsoft.com/office/powerpoint/2010/main" val="1017595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4A793E67-5B3C-4318-8977-47599CA3BE22}" type="datetimeFigureOut">
              <a:rPr lang="en-US" smtClean="0"/>
              <a:t>10/20/2023</a:t>
            </a:fld>
            <a:endParaRPr lang="en-US"/>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4DE68250-93E7-4555-A494-AB27E38F4612}" type="slidenum">
              <a:rPr lang="en-US" smtClean="0"/>
              <a:t>‹#›</a:t>
            </a:fld>
            <a:endParaRPr lang="en-US"/>
          </a:p>
        </p:txBody>
      </p:sp>
    </p:spTree>
    <p:extLst>
      <p:ext uri="{BB962C8B-B14F-4D97-AF65-F5344CB8AC3E}">
        <p14:creationId xmlns:p14="http://schemas.microsoft.com/office/powerpoint/2010/main" val="181401127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881" y="2360029"/>
            <a:ext cx="5054256" cy="1067530"/>
          </a:xfrm>
        </p:spPr>
        <p:txBody>
          <a:bodyPr/>
          <a:lstStyle/>
          <a:p>
            <a:r>
              <a:rPr lang="en-US" dirty="0" smtClean="0"/>
              <a:t>Onion Routing</a:t>
            </a:r>
            <a:endParaRPr lang="en-US" dirty="0"/>
          </a:p>
        </p:txBody>
      </p:sp>
      <p:sp>
        <p:nvSpPr>
          <p:cNvPr id="3" name="Subtitle 2"/>
          <p:cNvSpPr>
            <a:spLocks noGrp="1"/>
          </p:cNvSpPr>
          <p:nvPr>
            <p:ph type="subTitle" idx="1"/>
          </p:nvPr>
        </p:nvSpPr>
        <p:spPr>
          <a:xfrm>
            <a:off x="4076977" y="3906522"/>
            <a:ext cx="4009228" cy="1214117"/>
          </a:xfrm>
        </p:spPr>
        <p:txBody>
          <a:bodyPr>
            <a:normAutofit/>
          </a:bodyPr>
          <a:lstStyle/>
          <a:p>
            <a:pPr algn="ctr"/>
            <a:r>
              <a:rPr lang="en-US" dirty="0" smtClean="0"/>
              <a:t>By</a:t>
            </a:r>
          </a:p>
          <a:p>
            <a:pPr algn="ctr"/>
            <a:r>
              <a:rPr lang="en-US" dirty="0" smtClean="0"/>
              <a:t>Name: Khan Umaid</a:t>
            </a:r>
          </a:p>
          <a:p>
            <a:pPr algn="ctr"/>
            <a:r>
              <a:rPr lang="en-US" dirty="0" smtClean="0"/>
              <a:t>Roll No: 18039</a:t>
            </a:r>
            <a:endParaRPr lang="en-US" dirty="0"/>
          </a:p>
        </p:txBody>
      </p:sp>
    </p:spTree>
    <p:extLst>
      <p:ext uri="{BB962C8B-B14F-4D97-AF65-F5344CB8AC3E}">
        <p14:creationId xmlns:p14="http://schemas.microsoft.com/office/powerpoint/2010/main" val="36233374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8464" y="680227"/>
            <a:ext cx="8825658" cy="1000518"/>
          </a:xfrm>
        </p:spPr>
        <p:txBody>
          <a:bodyPr/>
          <a:lstStyle/>
          <a:p>
            <a:r>
              <a:rPr lang="en-US" dirty="0" smtClean="0"/>
              <a:t>Introduction</a:t>
            </a:r>
            <a:endParaRPr lang="en-US" dirty="0"/>
          </a:p>
        </p:txBody>
      </p:sp>
      <p:sp>
        <p:nvSpPr>
          <p:cNvPr id="3" name="Subtitle 2"/>
          <p:cNvSpPr>
            <a:spLocks noGrp="1"/>
          </p:cNvSpPr>
          <p:nvPr>
            <p:ph type="subTitle" idx="1"/>
          </p:nvPr>
        </p:nvSpPr>
        <p:spPr>
          <a:xfrm>
            <a:off x="1468464" y="2107474"/>
            <a:ext cx="8825658" cy="3910149"/>
          </a:xfrm>
        </p:spPr>
        <p:txBody>
          <a:bodyPr>
            <a:normAutofit/>
          </a:bodyPr>
          <a:lstStyle/>
          <a:p>
            <a:pPr marL="285750" indent="-285750">
              <a:buFont typeface="Wingdings" panose="05000000000000000000" pitchFamily="2" charset="2"/>
              <a:buChar char="q"/>
            </a:pPr>
            <a:r>
              <a:rPr lang="en-US" dirty="0" smtClean="0"/>
              <a:t>The Onion routing(Tor), was developed by us naval research laboratory employees </a:t>
            </a:r>
            <a:r>
              <a:rPr lang="en-US" b="1" dirty="0" smtClean="0"/>
              <a:t>Paul syverson, Michael reed and David goldschlag</a:t>
            </a:r>
            <a:r>
              <a:rPr lang="en-US" dirty="0" smtClean="0"/>
              <a:t> in mid 1990 to protect the identity of us navy intelligence agents.</a:t>
            </a:r>
          </a:p>
          <a:p>
            <a:pPr marL="285750" indent="-285750">
              <a:buFont typeface="Wingdings" panose="05000000000000000000" pitchFamily="2" charset="2"/>
              <a:buChar char="q"/>
            </a:pPr>
            <a:r>
              <a:rPr lang="en-US" dirty="0" smtClean="0"/>
              <a:t>Onion </a:t>
            </a:r>
            <a:r>
              <a:rPr lang="en-US" dirty="0"/>
              <a:t>routing is a technique for </a:t>
            </a:r>
            <a:r>
              <a:rPr lang="en-US" b="1" dirty="0"/>
              <a:t>anonymous communication </a:t>
            </a:r>
            <a:r>
              <a:rPr lang="en-US" dirty="0"/>
              <a:t>over a computer network. In an onion network, messages are encapsulated in layers of encryption, analogous to layers of an onion. </a:t>
            </a:r>
            <a:endParaRPr lang="en-US" dirty="0" smtClean="0"/>
          </a:p>
          <a:p>
            <a:pPr marL="285750" indent="-285750">
              <a:buFont typeface="Wingdings" panose="05000000000000000000" pitchFamily="2" charset="2"/>
              <a:buChar char="q"/>
            </a:pPr>
            <a:r>
              <a:rPr lang="en-US" dirty="0"/>
              <a:t> Onion Routing </a:t>
            </a:r>
            <a:r>
              <a:rPr lang="en-US" b="1" dirty="0"/>
              <a:t>hides who is communicating with whom </a:t>
            </a:r>
            <a:r>
              <a:rPr lang="en-US" dirty="0"/>
              <a:t>from the transport medium; the network just knows that communication is taking place.</a:t>
            </a:r>
            <a:endParaRPr lang="en-US" dirty="0"/>
          </a:p>
        </p:txBody>
      </p:sp>
    </p:spTree>
    <p:extLst>
      <p:ext uri="{BB962C8B-B14F-4D97-AF65-F5344CB8AC3E}">
        <p14:creationId xmlns:p14="http://schemas.microsoft.com/office/powerpoint/2010/main" val="2055966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8464" y="583474"/>
            <a:ext cx="8825658" cy="1010193"/>
          </a:xfrm>
        </p:spPr>
        <p:txBody>
          <a:bodyPr/>
          <a:lstStyle/>
          <a:p>
            <a:r>
              <a:rPr lang="en-US" sz="4800" dirty="0">
                <a:solidFill>
                  <a:srgbClr val="FFFFFF"/>
                </a:solidFill>
              </a:rPr>
              <a:t>How </a:t>
            </a:r>
            <a:r>
              <a:rPr lang="en-US" sz="4800" dirty="0" smtClean="0">
                <a:solidFill>
                  <a:srgbClr val="FFFFFF"/>
                </a:solidFill>
              </a:rPr>
              <a:t>does onion </a:t>
            </a:r>
            <a:r>
              <a:rPr lang="en-US" sz="4800" dirty="0">
                <a:solidFill>
                  <a:srgbClr val="FFFFFF"/>
                </a:solidFill>
              </a:rPr>
              <a:t>routing </a:t>
            </a:r>
            <a:r>
              <a:rPr lang="en-US" sz="4800" dirty="0" smtClean="0">
                <a:solidFill>
                  <a:srgbClr val="FFFFFF"/>
                </a:solidFill>
              </a:rPr>
              <a:t>work</a:t>
            </a:r>
            <a:endParaRPr lang="en-US" sz="4800" dirty="0"/>
          </a:p>
        </p:txBody>
      </p:sp>
      <p:sp>
        <p:nvSpPr>
          <p:cNvPr id="3" name="Subtitle 2"/>
          <p:cNvSpPr>
            <a:spLocks noGrp="1"/>
          </p:cNvSpPr>
          <p:nvPr>
            <p:ph type="subTitle" idx="1"/>
          </p:nvPr>
        </p:nvSpPr>
        <p:spPr>
          <a:xfrm>
            <a:off x="1468464" y="1933303"/>
            <a:ext cx="8825658" cy="4389121"/>
          </a:xfrm>
        </p:spPr>
        <p:txBody>
          <a:bodyPr>
            <a:normAutofit/>
          </a:bodyPr>
          <a:lstStyle/>
          <a:p>
            <a:pPr marL="285750" indent="-285750">
              <a:buFont typeface="Wingdings" panose="05000000000000000000" pitchFamily="2" charset="2"/>
              <a:buChar char="q"/>
            </a:pPr>
            <a:r>
              <a:rPr lang="en-US" sz="1700" dirty="0"/>
              <a:t>In onion routing, the connection is maintained between different nodes i.e. the connection hops from one server to another and when it reaches the last server on this circuit it is the server that we wanted to contact and it will process our request and serve us the desired webpage which is sent back to us using the same network of nodes.</a:t>
            </a:r>
          </a:p>
          <a:p>
            <a:pPr marL="285750" indent="-285750">
              <a:buFont typeface="Wingdings" panose="05000000000000000000" pitchFamily="2" charset="2"/>
              <a:buChar char="q"/>
            </a:pPr>
            <a:r>
              <a:rPr lang="en-US" sz="1700" dirty="0"/>
              <a:t>Now you must think why is it called the onion router. It is because the message we send and the responses we receive are encrypted with different keys, with a unique key for encryption for every different hop or server visit.</a:t>
            </a:r>
          </a:p>
          <a:p>
            <a:pPr marL="285750" indent="-285750">
              <a:buFont typeface="Wingdings" panose="05000000000000000000" pitchFamily="2" charset="2"/>
              <a:buChar char="q"/>
            </a:pPr>
            <a:r>
              <a:rPr lang="en-US" sz="1700" dirty="0"/>
              <a:t>The client has access to all the keys but the servers only have access to the keys specific for encryption/decryption to that server.</a:t>
            </a:r>
          </a:p>
          <a:p>
            <a:pPr marL="285750" indent="-285750">
              <a:buFont typeface="Wingdings" panose="05000000000000000000" pitchFamily="2" charset="2"/>
              <a:buChar char="q"/>
            </a:pPr>
            <a:r>
              <a:rPr lang="en-US" sz="1700" dirty="0"/>
              <a:t>Since this process </a:t>
            </a:r>
            <a:r>
              <a:rPr lang="en-US" sz="1700" b="1" dirty="0"/>
              <a:t>wraps your message under layers of encryption</a:t>
            </a:r>
            <a:r>
              <a:rPr lang="en-US" sz="1700" dirty="0"/>
              <a:t> which have to be peeled off at each different hop just like an onion that’s why it’s called an onion router</a:t>
            </a:r>
            <a:r>
              <a:rPr lang="en-US" sz="1700" dirty="0" smtClean="0"/>
              <a:t>.</a:t>
            </a:r>
            <a:endParaRPr lang="en-US" sz="1700" dirty="0"/>
          </a:p>
        </p:txBody>
      </p:sp>
    </p:spTree>
    <p:extLst>
      <p:ext uri="{BB962C8B-B14F-4D97-AF65-F5344CB8AC3E}">
        <p14:creationId xmlns:p14="http://schemas.microsoft.com/office/powerpoint/2010/main" val="23029221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8464" y="680227"/>
            <a:ext cx="8825658" cy="1000518"/>
          </a:xfrm>
        </p:spPr>
        <p:txBody>
          <a:bodyPr/>
          <a:lstStyle/>
          <a:p>
            <a:r>
              <a:rPr lang="en-US" sz="3200" dirty="0"/>
              <a:t>Understanding Onion routing concept an example</a:t>
            </a:r>
          </a:p>
        </p:txBody>
      </p:sp>
      <p:sp>
        <p:nvSpPr>
          <p:cNvPr id="3" name="Subtitle 2"/>
          <p:cNvSpPr>
            <a:spLocks noGrp="1"/>
          </p:cNvSpPr>
          <p:nvPr>
            <p:ph type="subTitle" idx="1"/>
          </p:nvPr>
        </p:nvSpPr>
        <p:spPr>
          <a:xfrm>
            <a:off x="1468464" y="2107474"/>
            <a:ext cx="8825658" cy="3910149"/>
          </a:xfrm>
        </p:spPr>
        <p:txBody>
          <a:bodyPr>
            <a:normAutofit fontScale="77500" lnSpcReduction="20000"/>
          </a:bodyPr>
          <a:lstStyle/>
          <a:p>
            <a:pPr marL="285750" indent="-285750">
              <a:buFont typeface="Wingdings" panose="05000000000000000000" pitchFamily="2" charset="2"/>
              <a:buChar char="q"/>
            </a:pPr>
            <a:r>
              <a:rPr lang="en-US" dirty="0"/>
              <a:t>The client with access to all the encryption keys </a:t>
            </a:r>
            <a:r>
              <a:rPr lang="en-US" dirty="0" smtClean="0"/>
              <a:t>i.e.</a:t>
            </a:r>
            <a:r>
              <a:rPr lang="en-US" dirty="0"/>
              <a:t> </a:t>
            </a:r>
            <a:r>
              <a:rPr lang="en-US" b="1" dirty="0"/>
              <a:t>key 1, key 2 &amp; key 3</a:t>
            </a:r>
            <a:r>
              <a:rPr lang="en-US" dirty="0"/>
              <a:t> encrypts the message(get request) thrice wrapping it under 3 layers like an onion which have to be peeled one at a time.</a:t>
            </a:r>
          </a:p>
          <a:p>
            <a:pPr marL="285750" indent="-285750">
              <a:buFont typeface="Wingdings" panose="05000000000000000000" pitchFamily="2" charset="2"/>
              <a:buChar char="q"/>
            </a:pPr>
            <a:r>
              <a:rPr lang="en-US" dirty="0"/>
              <a:t>This triple encrypted message is then sent to the first server i.e. </a:t>
            </a:r>
            <a:r>
              <a:rPr lang="en-US" b="1" dirty="0"/>
              <a:t>Node 1</a:t>
            </a:r>
            <a:r>
              <a:rPr lang="en-US" dirty="0"/>
              <a:t>(Input Node).</a:t>
            </a:r>
          </a:p>
          <a:p>
            <a:pPr marL="285750" indent="-285750">
              <a:buFont typeface="Wingdings" panose="05000000000000000000" pitchFamily="2" charset="2"/>
              <a:buChar char="q"/>
            </a:pPr>
            <a:r>
              <a:rPr lang="en-US" b="1" dirty="0"/>
              <a:t>Node </a:t>
            </a:r>
            <a:r>
              <a:rPr lang="en-US" dirty="0"/>
              <a:t>1 only has the address of </a:t>
            </a:r>
            <a:r>
              <a:rPr lang="en-US" b="1" dirty="0"/>
              <a:t>Node 2 and Key 1</a:t>
            </a:r>
            <a:r>
              <a:rPr lang="en-US" dirty="0"/>
              <a:t>. So it decrypts the message using Key 1 and realizes that it doesn’t make any sense since it still has 2 layers of encryption so it passes it on to </a:t>
            </a:r>
            <a:r>
              <a:rPr lang="en-US" b="1" dirty="0"/>
              <a:t>Node 2</a:t>
            </a:r>
          </a:p>
          <a:p>
            <a:pPr marL="285750" indent="-285750">
              <a:buFont typeface="Wingdings" panose="05000000000000000000" pitchFamily="2" charset="2"/>
              <a:buChar char="q"/>
            </a:pPr>
            <a:r>
              <a:rPr lang="en-US" b="1" dirty="0"/>
              <a:t>Node 2 has Key 2 </a:t>
            </a:r>
            <a:r>
              <a:rPr lang="en-US" dirty="0"/>
              <a:t>and the addresses of the input &amp; exit nodes. So it decrypts the message using Key 2 realizes that it’s still encrypted and passes it onto the exit node</a:t>
            </a:r>
          </a:p>
          <a:p>
            <a:pPr marL="285750" indent="-285750">
              <a:buFont typeface="Wingdings" panose="05000000000000000000" pitchFamily="2" charset="2"/>
              <a:buChar char="q"/>
            </a:pPr>
            <a:r>
              <a:rPr lang="en-US" b="1" dirty="0"/>
              <a:t>Node 3</a:t>
            </a:r>
            <a:r>
              <a:rPr lang="en-US" dirty="0"/>
              <a:t> (exit node) peels off the last layer of encryption and finds a GET request for </a:t>
            </a:r>
            <a:r>
              <a:rPr lang="en-US" b="1" dirty="0" smtClean="0"/>
              <a:t>youtube.com</a:t>
            </a:r>
            <a:r>
              <a:rPr lang="en-US" dirty="0" smtClean="0"/>
              <a:t> and </a:t>
            </a:r>
            <a:r>
              <a:rPr lang="en-US" dirty="0"/>
              <a:t>passes it onto the destination server</a:t>
            </a:r>
          </a:p>
          <a:p>
            <a:pPr marL="285750" indent="-285750">
              <a:buFont typeface="Wingdings" panose="05000000000000000000" pitchFamily="2" charset="2"/>
              <a:buChar char="q"/>
            </a:pPr>
            <a:r>
              <a:rPr lang="en-US" dirty="0"/>
              <a:t>The server </a:t>
            </a:r>
            <a:r>
              <a:rPr lang="en-US" dirty="0" smtClean="0"/>
              <a:t>processes </a:t>
            </a:r>
            <a:r>
              <a:rPr lang="en-US" dirty="0"/>
              <a:t>the request and serves up the desired webpage as a response.</a:t>
            </a:r>
          </a:p>
          <a:p>
            <a:pPr marL="285750" indent="-285750">
              <a:buFont typeface="Wingdings" panose="05000000000000000000" pitchFamily="2" charset="2"/>
              <a:buChar char="q"/>
            </a:pPr>
            <a:r>
              <a:rPr lang="en-US" dirty="0"/>
              <a:t>The response passes through the same nodes in the reverse direction where each node puts on a </a:t>
            </a:r>
            <a:r>
              <a:rPr lang="en-US" b="1" dirty="0"/>
              <a:t>layer of encryption using their specific key</a:t>
            </a:r>
          </a:p>
          <a:p>
            <a:pPr marL="285750" indent="-285750">
              <a:buFont typeface="Wingdings" panose="05000000000000000000" pitchFamily="2" charset="2"/>
              <a:buChar char="q"/>
            </a:pPr>
            <a:r>
              <a:rPr lang="en-US" dirty="0"/>
              <a:t>It finally reaches the client in the form of a </a:t>
            </a:r>
            <a:r>
              <a:rPr lang="en-US" b="1" dirty="0"/>
              <a:t>triple encrypted </a:t>
            </a:r>
            <a:r>
              <a:rPr lang="en-US" dirty="0"/>
              <a:t>response which can be decrypted since the </a:t>
            </a:r>
            <a:r>
              <a:rPr lang="en-US" b="1" dirty="0"/>
              <a:t>client has access to all the keys</a:t>
            </a:r>
          </a:p>
        </p:txBody>
      </p:sp>
    </p:spTree>
    <p:extLst>
      <p:ext uri="{BB962C8B-B14F-4D97-AF65-F5344CB8AC3E}">
        <p14:creationId xmlns:p14="http://schemas.microsoft.com/office/powerpoint/2010/main" val="1227824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12908" y="642216"/>
            <a:ext cx="11366183" cy="5573567"/>
          </a:xfrm>
          <a:prstGeom prst="rect">
            <a:avLst/>
          </a:prstGeom>
        </p:spPr>
      </p:pic>
    </p:spTree>
    <p:extLst>
      <p:ext uri="{BB962C8B-B14F-4D97-AF65-F5344CB8AC3E}">
        <p14:creationId xmlns:p14="http://schemas.microsoft.com/office/powerpoint/2010/main" val="32603334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8464" y="680227"/>
            <a:ext cx="8825658" cy="1000518"/>
          </a:xfrm>
        </p:spPr>
        <p:txBody>
          <a:bodyPr/>
          <a:lstStyle/>
          <a:p>
            <a:r>
              <a:rPr lang="en-US" sz="4400" dirty="0"/>
              <a:t>How does it provide </a:t>
            </a:r>
            <a:r>
              <a:rPr lang="en-US" sz="4400" dirty="0" smtClean="0"/>
              <a:t>anonymity</a:t>
            </a:r>
            <a:endParaRPr lang="en-US" sz="4400" dirty="0"/>
          </a:p>
        </p:txBody>
      </p:sp>
      <p:sp>
        <p:nvSpPr>
          <p:cNvPr id="3" name="Subtitle 2"/>
          <p:cNvSpPr>
            <a:spLocks noGrp="1"/>
          </p:cNvSpPr>
          <p:nvPr>
            <p:ph type="subTitle" idx="1"/>
          </p:nvPr>
        </p:nvSpPr>
        <p:spPr>
          <a:xfrm>
            <a:off x="1468464" y="2107474"/>
            <a:ext cx="8825658" cy="3910149"/>
          </a:xfrm>
        </p:spPr>
        <p:txBody>
          <a:bodyPr>
            <a:normAutofit fontScale="92500" lnSpcReduction="20000"/>
          </a:bodyPr>
          <a:lstStyle/>
          <a:p>
            <a:pPr marL="285750" indent="-285750">
              <a:buFont typeface="Wingdings" panose="05000000000000000000" pitchFamily="2" charset="2"/>
              <a:buChar char="q"/>
            </a:pPr>
            <a:r>
              <a:rPr lang="en-US" dirty="0"/>
              <a:t>Imagine if there is a sniffer listening in at the </a:t>
            </a:r>
            <a:r>
              <a:rPr lang="en-US" b="1" dirty="0"/>
              <a:t>first connection(client – input node) </a:t>
            </a:r>
            <a:r>
              <a:rPr lang="en-US" dirty="0"/>
              <a:t>all it can know is the address of the </a:t>
            </a:r>
            <a:r>
              <a:rPr lang="en-US" b="1" dirty="0"/>
              <a:t>input node and a thrice encrypted message </a:t>
            </a:r>
            <a:r>
              <a:rPr lang="en-US" dirty="0"/>
              <a:t>that doesn’t make sense. So all the attacker/sniffer knows that you are browsing tor. </a:t>
            </a:r>
          </a:p>
          <a:p>
            <a:pPr marL="285750" indent="-285750">
              <a:buFont typeface="Wingdings" panose="05000000000000000000" pitchFamily="2" charset="2"/>
              <a:buChar char="q"/>
            </a:pPr>
            <a:r>
              <a:rPr lang="en-US" dirty="0"/>
              <a:t>Similarly, if sniffing </a:t>
            </a:r>
            <a:r>
              <a:rPr lang="en-US" b="1" dirty="0"/>
              <a:t>starts at the exit node </a:t>
            </a:r>
            <a:r>
              <a:rPr lang="en-US" dirty="0"/>
              <a:t>all the sniffer sees is a server contacting another server but it </a:t>
            </a:r>
            <a:r>
              <a:rPr lang="en-US" b="1" dirty="0"/>
              <a:t>can’t track the client or the source of the request generated. </a:t>
            </a:r>
          </a:p>
          <a:p>
            <a:pPr marL="285750" indent="-285750">
              <a:buFont typeface="Wingdings" panose="05000000000000000000" pitchFamily="2" charset="2"/>
              <a:buChar char="q"/>
            </a:pPr>
            <a:r>
              <a:rPr lang="en-US" dirty="0"/>
              <a:t>But now you may think that if someone is listening in </a:t>
            </a:r>
            <a:r>
              <a:rPr lang="en-US" b="1" dirty="0"/>
              <a:t>at Node 2 </a:t>
            </a:r>
            <a:r>
              <a:rPr lang="en-US" dirty="0"/>
              <a:t>they will know the address of the input and exit and can trace the client and the destination server. But it’s not that simple, each of these nodes has hundreds of concurrent connections going on, and to know which one leads to the right source and destination is not that easy. In our circuit, Node 2 is a middle node but it can be a part of another circuit on a different connection where it acts as the input node receiving requests or an exit node serving up webpages from various servers. </a:t>
            </a:r>
          </a:p>
        </p:txBody>
      </p:sp>
    </p:spTree>
    <p:extLst>
      <p:ext uri="{BB962C8B-B14F-4D97-AF65-F5344CB8AC3E}">
        <p14:creationId xmlns:p14="http://schemas.microsoft.com/office/powerpoint/2010/main" val="33975766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8464" y="680227"/>
            <a:ext cx="8825658" cy="1000518"/>
          </a:xfrm>
        </p:spPr>
        <p:txBody>
          <a:bodyPr/>
          <a:lstStyle/>
          <a:p>
            <a:r>
              <a:rPr lang="en-US" sz="4400" dirty="0"/>
              <a:t>Vulnerability in Onion Routing</a:t>
            </a:r>
            <a:endParaRPr lang="en-US" sz="4400" dirty="0"/>
          </a:p>
        </p:txBody>
      </p:sp>
      <p:sp>
        <p:nvSpPr>
          <p:cNvPr id="3" name="Subtitle 2"/>
          <p:cNvSpPr>
            <a:spLocks noGrp="1"/>
          </p:cNvSpPr>
          <p:nvPr>
            <p:ph type="subTitle" idx="1"/>
          </p:nvPr>
        </p:nvSpPr>
        <p:spPr>
          <a:xfrm>
            <a:off x="1468464" y="2107474"/>
            <a:ext cx="8825658" cy="3910149"/>
          </a:xfrm>
        </p:spPr>
        <p:txBody>
          <a:bodyPr>
            <a:normAutofit/>
          </a:bodyPr>
          <a:lstStyle/>
          <a:p>
            <a:pPr marL="285750" indent="-285750">
              <a:buFont typeface="Wingdings" panose="05000000000000000000" pitchFamily="2" charset="2"/>
              <a:buChar char="q"/>
            </a:pPr>
            <a:r>
              <a:rPr lang="en-US" dirty="0"/>
              <a:t>The only security flaw in onion routing is that if someone is listening in on a server at the same time and matches the request at the destination to a request made by a client on the other side of a network by analyzing the length and the frequency of the characters found in the intercepted request or response at the destination server and using that to match with the same request made by a client a fraction of a second (time-stamps on requests and responses can also be helpful in deducing that) and then tracking them down and knowing their online activity and shattering the idea of anonymity. </a:t>
            </a:r>
            <a:endParaRPr lang="en-US" dirty="0" smtClean="0"/>
          </a:p>
          <a:p>
            <a:pPr marL="285750" indent="-285750">
              <a:buFont typeface="Wingdings" panose="05000000000000000000" pitchFamily="2" charset="2"/>
              <a:buChar char="q"/>
            </a:pPr>
            <a:r>
              <a:rPr lang="en-US" dirty="0" smtClean="0"/>
              <a:t>This </a:t>
            </a:r>
            <a:r>
              <a:rPr lang="en-US" dirty="0"/>
              <a:t>is pretty hard to do but not impossible. But removing this flaw from Tor is virtually impossible.</a:t>
            </a:r>
          </a:p>
        </p:txBody>
      </p:sp>
    </p:spTree>
    <p:extLst>
      <p:ext uri="{BB962C8B-B14F-4D97-AF65-F5344CB8AC3E}">
        <p14:creationId xmlns:p14="http://schemas.microsoft.com/office/powerpoint/2010/main" val="22506849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8464" y="680227"/>
            <a:ext cx="8825658" cy="1000518"/>
          </a:xfrm>
        </p:spPr>
        <p:txBody>
          <a:bodyPr/>
          <a:lstStyle/>
          <a:p>
            <a:r>
              <a:rPr lang="en-US" sz="4400" dirty="0" smtClean="0"/>
              <a:t>Advantages</a:t>
            </a:r>
            <a:endParaRPr lang="en-US" sz="4400" dirty="0"/>
          </a:p>
        </p:txBody>
      </p:sp>
      <p:sp>
        <p:nvSpPr>
          <p:cNvPr id="3" name="Subtitle 2"/>
          <p:cNvSpPr>
            <a:spLocks noGrp="1"/>
          </p:cNvSpPr>
          <p:nvPr>
            <p:ph type="subTitle" idx="1"/>
          </p:nvPr>
        </p:nvSpPr>
        <p:spPr>
          <a:xfrm>
            <a:off x="1468464" y="2107474"/>
            <a:ext cx="8825658" cy="3910149"/>
          </a:xfrm>
        </p:spPr>
        <p:txBody>
          <a:bodyPr>
            <a:normAutofit fontScale="92500" lnSpcReduction="10000"/>
          </a:bodyPr>
          <a:lstStyle/>
          <a:p>
            <a:pPr marL="285750" indent="-285750">
              <a:buFont typeface="Wingdings" panose="05000000000000000000" pitchFamily="2" charset="2"/>
              <a:buChar char="q"/>
            </a:pPr>
            <a:r>
              <a:rPr lang="en-US" b="1" dirty="0"/>
              <a:t>Enhanced Security: </a:t>
            </a:r>
            <a:r>
              <a:rPr lang="en-US" dirty="0"/>
              <a:t>Onion routing provides enhanced security by encrypting data multiple times and routing it through several servers, making it difficult for attackers to intercept or tamper with the communication</a:t>
            </a:r>
            <a:r>
              <a:rPr lang="en-US" dirty="0" smtClean="0"/>
              <a:t>.</a:t>
            </a:r>
            <a:endParaRPr lang="en-US" dirty="0"/>
          </a:p>
          <a:p>
            <a:pPr marL="285750" indent="-285750">
              <a:buFont typeface="Wingdings" panose="05000000000000000000" pitchFamily="2" charset="2"/>
              <a:buChar char="q"/>
            </a:pPr>
            <a:r>
              <a:rPr lang="en-US" b="1" dirty="0"/>
              <a:t>Anonymity: </a:t>
            </a:r>
            <a:r>
              <a:rPr lang="en-US" dirty="0"/>
              <a:t>Onion routing provides anonymity by masking the IP address of the sender and the receiver, making it difficult for anyone to identify them</a:t>
            </a:r>
            <a:r>
              <a:rPr lang="en-US" dirty="0" smtClean="0"/>
              <a:t>.</a:t>
            </a:r>
            <a:endParaRPr lang="en-US" dirty="0"/>
          </a:p>
          <a:p>
            <a:pPr marL="285750" indent="-285750">
              <a:buFont typeface="Wingdings" panose="05000000000000000000" pitchFamily="2" charset="2"/>
              <a:buChar char="q"/>
            </a:pPr>
            <a:r>
              <a:rPr lang="en-US" b="1" dirty="0"/>
              <a:t>Resistance to Traffic Analysis</a:t>
            </a:r>
            <a:r>
              <a:rPr lang="en-US" dirty="0"/>
              <a:t>: Onion routing makes it difficult for attackers to analyze the traffic patterns and identify the source and destination of the communication, thereby enhancing privacy and security</a:t>
            </a:r>
            <a:r>
              <a:rPr lang="en-US" dirty="0" smtClean="0"/>
              <a:t>.</a:t>
            </a:r>
          </a:p>
          <a:p>
            <a:pPr marL="285750" indent="-285750">
              <a:buFont typeface="Wingdings" panose="05000000000000000000" pitchFamily="2" charset="2"/>
              <a:buChar char="q"/>
            </a:pPr>
            <a:r>
              <a:rPr lang="en-US" b="1" dirty="0"/>
              <a:t>Cross-Platform Compatibility: </a:t>
            </a:r>
            <a:r>
              <a:rPr lang="en-US" dirty="0"/>
              <a:t>Onion routing is compatible with multiple operating systems and devices, making it accessible to a wide range of users.</a:t>
            </a:r>
          </a:p>
        </p:txBody>
      </p:sp>
    </p:spTree>
    <p:extLst>
      <p:ext uri="{BB962C8B-B14F-4D97-AF65-F5344CB8AC3E}">
        <p14:creationId xmlns:p14="http://schemas.microsoft.com/office/powerpoint/2010/main" val="13509220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8464" y="680227"/>
            <a:ext cx="8825658" cy="1000518"/>
          </a:xfrm>
        </p:spPr>
        <p:txBody>
          <a:bodyPr/>
          <a:lstStyle/>
          <a:p>
            <a:r>
              <a:rPr lang="en-US" sz="4400" dirty="0" smtClean="0"/>
              <a:t>Disadvantages</a:t>
            </a:r>
            <a:endParaRPr lang="en-US" sz="4400" dirty="0"/>
          </a:p>
        </p:txBody>
      </p:sp>
      <p:sp>
        <p:nvSpPr>
          <p:cNvPr id="3" name="Subtitle 2"/>
          <p:cNvSpPr>
            <a:spLocks noGrp="1"/>
          </p:cNvSpPr>
          <p:nvPr>
            <p:ph type="subTitle" idx="1"/>
          </p:nvPr>
        </p:nvSpPr>
        <p:spPr>
          <a:xfrm>
            <a:off x="1468464" y="2107474"/>
            <a:ext cx="8825658" cy="3910149"/>
          </a:xfrm>
        </p:spPr>
        <p:txBody>
          <a:bodyPr>
            <a:normAutofit/>
          </a:bodyPr>
          <a:lstStyle/>
          <a:p>
            <a:pPr marL="285750" indent="-285750">
              <a:buFont typeface="Wingdings" panose="05000000000000000000" pitchFamily="2" charset="2"/>
              <a:buChar char="q"/>
            </a:pPr>
            <a:r>
              <a:rPr lang="en-US" b="1" dirty="0"/>
              <a:t>Slow Performance: </a:t>
            </a:r>
            <a:r>
              <a:rPr lang="en-US" dirty="0"/>
              <a:t>Onion routing can result in slow performance due to the multiple layers of encryption and the need to route data through several servers</a:t>
            </a:r>
            <a:r>
              <a:rPr lang="en-US" dirty="0" smtClean="0"/>
              <a:t>.</a:t>
            </a:r>
            <a:endParaRPr lang="en-US" dirty="0"/>
          </a:p>
          <a:p>
            <a:pPr marL="285750" indent="-285750">
              <a:buFont typeface="Wingdings" panose="05000000000000000000" pitchFamily="2" charset="2"/>
              <a:buChar char="q"/>
            </a:pPr>
            <a:r>
              <a:rPr lang="en-US" b="1" dirty="0"/>
              <a:t>Limited Accessibility: </a:t>
            </a:r>
            <a:r>
              <a:rPr lang="en-US" dirty="0"/>
              <a:t>Onion routing is not widely accessible, and users may need specialized software to use it</a:t>
            </a:r>
            <a:r>
              <a:rPr lang="en-US" dirty="0" smtClean="0"/>
              <a:t>.</a:t>
            </a:r>
            <a:endParaRPr lang="en-US" dirty="0"/>
          </a:p>
          <a:p>
            <a:pPr marL="285750" indent="-285750">
              <a:buFont typeface="Wingdings" panose="05000000000000000000" pitchFamily="2" charset="2"/>
              <a:buChar char="q"/>
            </a:pPr>
            <a:r>
              <a:rPr lang="en-US" b="1" dirty="0"/>
              <a:t>Malicious Use: </a:t>
            </a:r>
            <a:r>
              <a:rPr lang="en-US" dirty="0"/>
              <a:t>Onion routing can be used for malicious purposes, such as to facilitate illegal activities, making it a target for law enforcement agencies</a:t>
            </a:r>
            <a:r>
              <a:rPr lang="en-US" dirty="0" smtClean="0"/>
              <a:t>.</a:t>
            </a:r>
          </a:p>
          <a:p>
            <a:pPr marL="285750" indent="-285750">
              <a:buFont typeface="Wingdings" panose="05000000000000000000" pitchFamily="2" charset="2"/>
              <a:buChar char="q"/>
            </a:pPr>
            <a:endParaRPr lang="en-US" dirty="0"/>
          </a:p>
        </p:txBody>
      </p:sp>
    </p:spTree>
    <p:extLst>
      <p:ext uri="{BB962C8B-B14F-4D97-AF65-F5344CB8AC3E}">
        <p14:creationId xmlns:p14="http://schemas.microsoft.com/office/powerpoint/2010/main" val="42296892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8464" y="680227"/>
            <a:ext cx="8825658" cy="1000518"/>
          </a:xfrm>
        </p:spPr>
        <p:txBody>
          <a:bodyPr/>
          <a:lstStyle/>
          <a:p>
            <a:r>
              <a:rPr lang="en-US" sz="4400" dirty="0" smtClean="0"/>
              <a:t>Conclusion</a:t>
            </a:r>
            <a:endParaRPr lang="en-US" sz="4400" dirty="0"/>
          </a:p>
        </p:txBody>
      </p:sp>
      <p:sp>
        <p:nvSpPr>
          <p:cNvPr id="3" name="Subtitle 2"/>
          <p:cNvSpPr>
            <a:spLocks noGrp="1"/>
          </p:cNvSpPr>
          <p:nvPr>
            <p:ph type="subTitle" idx="1"/>
          </p:nvPr>
        </p:nvSpPr>
        <p:spPr>
          <a:xfrm>
            <a:off x="1468464" y="2107474"/>
            <a:ext cx="8825658" cy="3910149"/>
          </a:xfrm>
        </p:spPr>
        <p:txBody>
          <a:bodyPr>
            <a:normAutofit/>
          </a:bodyPr>
          <a:lstStyle/>
          <a:p>
            <a:pPr marL="285750" indent="-285750">
              <a:buFont typeface="Wingdings" panose="05000000000000000000" pitchFamily="2" charset="2"/>
              <a:buChar char="q"/>
            </a:pPr>
            <a:r>
              <a:rPr lang="en-US" dirty="0" smtClean="0"/>
              <a:t>Tor(The onion routing) provide as enhance security and anonymity from attackers/sniffing.</a:t>
            </a:r>
          </a:p>
          <a:p>
            <a:pPr marL="285750" indent="-285750">
              <a:buFont typeface="Wingdings" panose="05000000000000000000" pitchFamily="2" charset="2"/>
              <a:buChar char="q"/>
            </a:pPr>
            <a:r>
              <a:rPr lang="en-US" dirty="0" smtClean="0"/>
              <a:t>But, it is slow and limited accessibility and it can be use for malicious uses.</a:t>
            </a:r>
          </a:p>
          <a:p>
            <a:pPr marL="285750" indent="-285750">
              <a:buFont typeface="Wingdings" panose="05000000000000000000" pitchFamily="2" charset="2"/>
              <a:buChar char="q"/>
            </a:pPr>
            <a:r>
              <a:rPr lang="en-US" dirty="0" smtClean="0"/>
              <a:t>Tor transfers data through a minimum of three nodes. The sequence of the node is random</a:t>
            </a:r>
            <a:endParaRPr lang="en-US" dirty="0"/>
          </a:p>
        </p:txBody>
      </p:sp>
    </p:spTree>
    <p:extLst>
      <p:ext uri="{BB962C8B-B14F-4D97-AF65-F5344CB8AC3E}">
        <p14:creationId xmlns:p14="http://schemas.microsoft.com/office/powerpoint/2010/main" val="41570935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3171" y="2828592"/>
            <a:ext cx="8825658" cy="1200816"/>
          </a:xfrm>
        </p:spPr>
        <p:txBody>
          <a:bodyPr/>
          <a:lstStyle/>
          <a:p>
            <a:pPr algn="ctr"/>
            <a:r>
              <a:rPr lang="en-US" sz="6000" dirty="0" smtClean="0"/>
              <a:t>THANK YOU</a:t>
            </a:r>
            <a:endParaRPr lang="en-US" sz="6000"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71888193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122</TotalTime>
  <Words>1093</Words>
  <Application>Microsoft Office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Gothic</vt:lpstr>
      <vt:lpstr>Wingdings</vt:lpstr>
      <vt:lpstr>Wingdings 3</vt:lpstr>
      <vt:lpstr>Ion Boardroom</vt:lpstr>
      <vt:lpstr>Onion Routing</vt:lpstr>
      <vt:lpstr>Introduction</vt:lpstr>
      <vt:lpstr>How does onion routing work</vt:lpstr>
      <vt:lpstr>Understanding Onion routing concept an example</vt:lpstr>
      <vt:lpstr>PowerPoint Presentation</vt:lpstr>
      <vt:lpstr>How does it provide anonymity</vt:lpstr>
      <vt:lpstr>Vulnerability in Onion Routing</vt:lpstr>
      <vt:lpstr>Advantages</vt:lpstr>
      <vt:lpstr>Disadvantages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Onion Routing</dc:title>
  <dc:creator>Umaid khan</dc:creator>
  <cp:lastModifiedBy>Umaid khan</cp:lastModifiedBy>
  <cp:revision>10</cp:revision>
  <dcterms:created xsi:type="dcterms:W3CDTF">2023-10-20T17:19:22Z</dcterms:created>
  <dcterms:modified xsi:type="dcterms:W3CDTF">2023-10-20T19:22:17Z</dcterms:modified>
</cp:coreProperties>
</file>